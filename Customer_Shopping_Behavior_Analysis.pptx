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114800"/>
            <a:ext cx="9144000" cy="1028700"/>
          </a:xfrm>
          <a:prstGeom prst="rect">
            <a:avLst/>
          </a:prstGeom>
          <a:solidFill>
            <a:srgbClr val="0D1A40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005840"/>
            <a:ext cx="82296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Shopping</a:t>
            </a:r>
            <a:endParaRPr lang="en-US" sz="4000" dirty="0"/>
          </a:p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Behavior Analysis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365760" y="32004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8EC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Data Analysis Project  |  Python · SQL · Power BI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65760" y="41605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AA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3,900 Transactions  ·  18 Features  ·  6 Analysis Phases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3840480" cy="3474720"/>
          </a:xfrm>
          <a:prstGeom prst="rect">
            <a:avLst/>
          </a:prstGeom>
          <a:solidFill>
            <a:srgbClr val="E8F4F8"/>
          </a:solidFill>
          <a:ln w="12700">
            <a:solidFill>
              <a:srgbClr val="CCDD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960120"/>
            <a:ext cx="3840480" cy="41148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320040" y="96012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OBJECTIVE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65760" y="1463040"/>
            <a:ext cx="3657600" cy="274320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A2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transactional data from 3,900 purchases to uncover insights into spending patterns, customer segments, and product preferences — guiding strategic business decisions.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663440" y="960120"/>
            <a:ext cx="4206240" cy="3474720"/>
          </a:xfrm>
          <a:prstGeom prst="rect">
            <a:avLst/>
          </a:prstGeom>
          <a:solidFill>
            <a:srgbClr val="E8F4F8"/>
          </a:solidFill>
          <a:ln w="12700">
            <a:solidFill>
              <a:srgbClr val="CCDDE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663440" y="960120"/>
            <a:ext cx="4206240" cy="4114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4709160" y="96012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TOOLS &amp; TECHNOLOGIES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754880" y="1508760"/>
            <a:ext cx="274320" cy="27432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2" name="Text 10"/>
          <p:cNvSpPr/>
          <p:nvPr/>
        </p:nvSpPr>
        <p:spPr>
          <a:xfrm>
            <a:off x="5120640" y="146304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</a:rPr>
              <a:t>Python (pandas)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120640" y="178308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</a:rPr>
              <a:t>Data loading, cleaning, feature engineering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754880" y="2514600"/>
            <a:ext cx="274320" cy="27432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5" name="Text 13"/>
          <p:cNvSpPr/>
          <p:nvPr/>
        </p:nvSpPr>
        <p:spPr>
          <a:xfrm>
            <a:off x="5120640" y="246888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</a:rPr>
              <a:t>PostgreSQL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120640" y="278892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</a:rPr>
              <a:t>Structured analysis via SQL queries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754880" y="3520440"/>
            <a:ext cx="274320" cy="27432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8" name="Text 16"/>
          <p:cNvSpPr/>
          <p:nvPr/>
        </p:nvSpPr>
        <p:spPr>
          <a:xfrm>
            <a:off x="5120640" y="347472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</a:rPr>
              <a:t>Power BI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120640" y="379476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</a:rPr>
              <a:t>Interactive dashboard &amp; visualizations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Summary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2560320" cy="13716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96012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2C39A"/>
                </a:solidFill>
              </a:rPr>
              <a:t>3,900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457200" y="169164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AD4E8"/>
                </a:solidFill>
              </a:rPr>
              <a:t>Total Rows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91840" y="914400"/>
            <a:ext cx="2560320" cy="13716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3291840" y="96012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2C39A"/>
                </a:solidFill>
              </a:rPr>
              <a:t>18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3291840" y="169164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AD4E8"/>
                </a:solidFill>
              </a:rPr>
              <a:t>Columns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126480" y="914400"/>
            <a:ext cx="2560320" cy="13716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6126480" y="96012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2C39A"/>
                </a:solidFill>
              </a:rPr>
              <a:t>37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6126480" y="169164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AD4E8"/>
                </a:solidFill>
              </a:rPr>
              <a:t>Missing Values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AAD4E8"/>
                </a:solidFill>
              </a:rPr>
              <a:t>(Review Rating)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65760" y="24688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</a:rPr>
              <a:t>Key Feature Groups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274320" y="2926080"/>
            <a:ext cx="73152" cy="45720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292608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Customer Demographics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3182112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</a:rPr>
              <a:t>Age, Gender, Location, Subscription Status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74320" y="3566160"/>
            <a:ext cx="73152" cy="45720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356616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Purchase Details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7200" y="3822192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</a:rPr>
              <a:t>Item Purchased, Category, Purchase Amount, Season, Size, Color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74320" y="4206240"/>
            <a:ext cx="73152" cy="45720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420624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Shopping Behavior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57200" y="4462272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</a:rPr>
              <a:t>Discount Applied, Previous Purchases, Review Rating, Frequency of Purchases, Shipping Type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Analysis &amp; Data Cleaning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9144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</a:rPr>
              <a:t>Python (pandas) was used for data preparation: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380744"/>
            <a:ext cx="256032" cy="25603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138074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94360" y="132588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Data Loading: 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011680" y="132588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035"/>
                </a:solidFill>
              </a:rPr>
              <a:t>Imported the dataset using pandas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74320" y="1883664"/>
            <a:ext cx="256032" cy="25603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0" name="Text 8"/>
          <p:cNvSpPr/>
          <p:nvPr/>
        </p:nvSpPr>
        <p:spPr>
          <a:xfrm>
            <a:off x="274320" y="188366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94360" y="182880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Initial Exploration: 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011680" y="182880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035"/>
                </a:solidFill>
              </a:rPr>
              <a:t>Used df.info() and .describe() for summary statistics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74320" y="2386584"/>
            <a:ext cx="256032" cy="25603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4" name="Text 12"/>
          <p:cNvSpPr/>
          <p:nvPr/>
        </p:nvSpPr>
        <p:spPr>
          <a:xfrm>
            <a:off x="274320" y="238658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94360" y="233172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Missing Data Handling: 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011680" y="233172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035"/>
                </a:solidFill>
              </a:rPr>
              <a:t>Imputed 37 missing Review Rating values using median by product category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74320" y="2889504"/>
            <a:ext cx="256032" cy="25603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8" name="Text 16"/>
          <p:cNvSpPr/>
          <p:nvPr/>
        </p:nvSpPr>
        <p:spPr>
          <a:xfrm>
            <a:off x="274320" y="288950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94360" y="283464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Column Standardization: 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011680" y="283464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035"/>
                </a:solidFill>
              </a:rPr>
              <a:t>Renamed columns to snake_case for readability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74320" y="3392424"/>
            <a:ext cx="256032" cy="25603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2" name="Text 20"/>
          <p:cNvSpPr/>
          <p:nvPr/>
        </p:nvSpPr>
        <p:spPr>
          <a:xfrm>
            <a:off x="274320" y="339242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5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94360" y="333756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Feature Engineering: 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2011680" y="333756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035"/>
                </a:solidFill>
              </a:rPr>
              <a:t>Created age_group (age binning) and purchase_frequency_days columns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74320" y="3895344"/>
            <a:ext cx="256032" cy="25603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6" name="Text 24"/>
          <p:cNvSpPr/>
          <p:nvPr/>
        </p:nvSpPr>
        <p:spPr>
          <a:xfrm>
            <a:off x="274320" y="389534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6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94360" y="384048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Data Consistency: 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2011680" y="384048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035"/>
                </a:solidFill>
              </a:rPr>
              <a:t>Dropped redundant promo_code_used column (duplicate of discount_applied)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274320" y="4398264"/>
            <a:ext cx="256032" cy="25603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0" name="Text 28"/>
          <p:cNvSpPr/>
          <p:nvPr/>
        </p:nvSpPr>
        <p:spPr>
          <a:xfrm>
            <a:off x="274320" y="439826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7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94360" y="434340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Database Integration: 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2011680" y="434340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035"/>
                </a:solidFill>
              </a:rPr>
              <a:t>Loaded cleaned DataFrame into PostgreSQL for SQL analysis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Analysis using SQL (PostgreSQL)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9144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</a:rPr>
              <a:t>Structured queries answered key business questions: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325880"/>
            <a:ext cx="3931920" cy="1920240"/>
          </a:xfrm>
          <a:prstGeom prst="rect">
            <a:avLst/>
          </a:prstGeom>
          <a:solidFill>
            <a:srgbClr val="E8F4F8"/>
          </a:solidFill>
          <a:ln w="12700">
            <a:solidFill>
              <a:srgbClr val="CCDDE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325880"/>
            <a:ext cx="3931920" cy="34747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7" name="Text 5"/>
          <p:cNvSpPr/>
          <p:nvPr/>
        </p:nvSpPr>
        <p:spPr>
          <a:xfrm>
            <a:off x="320040" y="132588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Revenue by Gender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65760" y="173736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035"/>
                </a:solidFill>
              </a:rPr>
              <a:t>Male customers generated significantly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2035"/>
                </a:solidFill>
              </a:rPr>
              <a:t>higher total revenue: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" y="228600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5568"/>
                </a:solidFill>
              </a:rPr>
              <a:t>Female: $75,191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2920" y="260604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</a:rPr>
              <a:t>Male: $157,890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389120" y="1371600"/>
            <a:ext cx="73152" cy="41148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0" y="1325880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035"/>
                </a:solidFill>
              </a:rPr>
              <a:t>High-Spending Discount Users — customers using discounts but spending above average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389120" y="1965960"/>
            <a:ext cx="73152" cy="41148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0" y="1920240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035"/>
                </a:solidFill>
              </a:rPr>
              <a:t>Revenue by Category — clothing, footwear, outerwear, accessories breakdown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389120" y="2560320"/>
            <a:ext cx="73152" cy="41148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0" y="2514600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035"/>
                </a:solidFill>
              </a:rPr>
              <a:t>Top Product by Season — best-selling items per season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389120" y="3154680"/>
            <a:ext cx="73152" cy="41148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0" y="3108960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035"/>
                </a:solidFill>
              </a:rPr>
              <a:t>Subscription vs Revenue — average spend comparison for subscribers vs non-subscribers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389120" y="3749040"/>
            <a:ext cx="73152" cy="41148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0" y="3703320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035"/>
                </a:solidFill>
              </a:rPr>
              <a:t>Shipping Preference Analysis — revenue contribution by shipping type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Dashboard Highlights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2560320" cy="11887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96012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3.9K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365760" y="160020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DEEEE"/>
                </a:solidFill>
              </a:rPr>
              <a:t>Number of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DDEEEE"/>
                </a:solidFill>
              </a:rPr>
              <a:t>Customers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00400" y="914400"/>
            <a:ext cx="2560320" cy="11887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8" name="Text 6"/>
          <p:cNvSpPr/>
          <p:nvPr/>
        </p:nvSpPr>
        <p:spPr>
          <a:xfrm>
            <a:off x="3200400" y="96012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$59.76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3200400" y="160020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DEEEE"/>
                </a:solidFill>
              </a:rPr>
              <a:t>Avg Purchase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DDEEEE"/>
                </a:solidFill>
              </a:rPr>
              <a:t>Amount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035040" y="914400"/>
            <a:ext cx="2560320" cy="1188720"/>
          </a:xfrm>
          <a:prstGeom prst="rect">
            <a:avLst/>
          </a:prstGeom>
          <a:solidFill>
            <a:srgbClr val="9B2335"/>
          </a:solidFill>
          <a:ln/>
        </p:spPr>
      </p:sp>
      <p:sp>
        <p:nvSpPr>
          <p:cNvPr id="11" name="Text 9"/>
          <p:cNvSpPr/>
          <p:nvPr/>
        </p:nvSpPr>
        <p:spPr>
          <a:xfrm>
            <a:off x="6035040" y="96012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3.75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6035040" y="160020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DEEEE"/>
                </a:solidFill>
              </a:rPr>
              <a:t>Avg Review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DDEEEE"/>
                </a:solidFill>
              </a:rPr>
              <a:t>Rating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65760" y="22860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</a:rPr>
              <a:t>Dashboard Visualizations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320040" y="2752344"/>
            <a:ext cx="182880" cy="18288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5" name="Text 13"/>
          <p:cNvSpPr/>
          <p:nvPr/>
        </p:nvSpPr>
        <p:spPr>
          <a:xfrm>
            <a:off x="594360" y="269748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% Customers by Subscription: 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880360" y="2697480"/>
            <a:ext cx="5943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035"/>
                </a:solidFill>
              </a:rPr>
              <a:t>Donut chart — ~27% subscribed vs 73% non-subscribed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20040" y="3209544"/>
            <a:ext cx="182880" cy="18288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8" name="Text 16"/>
          <p:cNvSpPr/>
          <p:nvPr/>
        </p:nvSpPr>
        <p:spPr>
          <a:xfrm>
            <a:off x="594360" y="315468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Revenue by Category: 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880360" y="3154680"/>
            <a:ext cx="5943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035"/>
                </a:solidFill>
              </a:rPr>
              <a:t>Bar chart showing category-wise purchase totals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20040" y="3666744"/>
            <a:ext cx="182880" cy="18288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1" name="Text 19"/>
          <p:cNvSpPr/>
          <p:nvPr/>
        </p:nvSpPr>
        <p:spPr>
          <a:xfrm>
            <a:off x="594360" y="361188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Sales by Category: 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2880360" y="3611880"/>
            <a:ext cx="5943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035"/>
                </a:solidFill>
              </a:rPr>
              <a:t>Comparative bar chart across product lines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20040" y="4123944"/>
            <a:ext cx="182880" cy="18288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4" name="Text 22"/>
          <p:cNvSpPr/>
          <p:nvPr/>
        </p:nvSpPr>
        <p:spPr>
          <a:xfrm>
            <a:off x="594360" y="406908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Revenue by Age Group: 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2880360" y="4069080"/>
            <a:ext cx="5943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035"/>
                </a:solidFill>
              </a:rPr>
              <a:t>Horizontal bars highlighting top revenue age segments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320040" y="4581144"/>
            <a:ext cx="182880" cy="18288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7" name="Text 25"/>
          <p:cNvSpPr/>
          <p:nvPr/>
        </p:nvSpPr>
        <p:spPr>
          <a:xfrm>
            <a:off x="594360" y="452628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Sales by Age Group: 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2880360" y="4526280"/>
            <a:ext cx="5943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035"/>
                </a:solidFill>
              </a:rPr>
              <a:t>Complementary view of transaction volume by age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Recommendations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4114800" cy="1078992"/>
          </a:xfrm>
          <a:prstGeom prst="rect">
            <a:avLst/>
          </a:prstGeom>
          <a:solidFill>
            <a:srgbClr val="E8F4F8"/>
          </a:solidFill>
          <a:ln w="12700">
            <a:solidFill>
              <a:srgbClr val="CCDD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960120"/>
            <a:ext cx="365760" cy="107899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033272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</a:rPr>
              <a:t>Boost Subscriptions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141732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</a:rPr>
              <a:t>Promote exclusive benefits and loyalty rewards to grow the 27% subscriber base.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74320" y="2194560"/>
            <a:ext cx="4114800" cy="1078992"/>
          </a:xfrm>
          <a:prstGeom prst="rect">
            <a:avLst/>
          </a:prstGeom>
          <a:solidFill>
            <a:srgbClr val="E8F4F8"/>
          </a:solidFill>
          <a:ln w="12700">
            <a:solidFill>
              <a:srgbClr val="CCDDE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4320" y="2194560"/>
            <a:ext cx="365760" cy="107899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2267712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</a:rPr>
              <a:t>Customer Loyalty Programs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31520" y="265176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</a:rPr>
              <a:t>Reward repeat buyers to move them into a dedicated 'Loyal' customer segment.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74320" y="3429000"/>
            <a:ext cx="4114800" cy="1078992"/>
          </a:xfrm>
          <a:prstGeom prst="rect">
            <a:avLst/>
          </a:prstGeom>
          <a:solidFill>
            <a:srgbClr val="E8F4F8"/>
          </a:solidFill>
          <a:ln w="12700">
            <a:solidFill>
              <a:srgbClr val="CCDDE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3429000"/>
            <a:ext cx="365760" cy="1078992"/>
          </a:xfrm>
          <a:prstGeom prst="rect">
            <a:avLst/>
          </a:prstGeom>
          <a:solidFill>
            <a:srgbClr val="9B2335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3502152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</a:rPr>
              <a:t>Review Discount Policy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31520" y="388620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</a:rPr>
              <a:t>Balance discount-driven sales boosts with margin control to protect profitability.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846320" y="960120"/>
            <a:ext cx="4114800" cy="1078992"/>
          </a:xfrm>
          <a:prstGeom prst="rect">
            <a:avLst/>
          </a:prstGeom>
          <a:solidFill>
            <a:srgbClr val="E8F4F8"/>
          </a:solidFill>
          <a:ln w="12700">
            <a:solidFill>
              <a:srgbClr val="CCDDE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846320" y="960120"/>
            <a:ext cx="365760" cy="107899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8" name="Text 16"/>
          <p:cNvSpPr/>
          <p:nvPr/>
        </p:nvSpPr>
        <p:spPr>
          <a:xfrm>
            <a:off x="5303520" y="1033272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</a:rPr>
              <a:t>Product Positioning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303520" y="141732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</a:rPr>
              <a:t>Highlight top-rated and best-selling products in marketing campaigns.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846320" y="2194560"/>
            <a:ext cx="4114800" cy="1078992"/>
          </a:xfrm>
          <a:prstGeom prst="rect">
            <a:avLst/>
          </a:prstGeom>
          <a:solidFill>
            <a:srgbClr val="E8F4F8"/>
          </a:solidFill>
          <a:ln w="12700">
            <a:solidFill>
              <a:srgbClr val="CCDDE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846320" y="2194560"/>
            <a:ext cx="365760" cy="107899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2" name="Text 20"/>
          <p:cNvSpPr/>
          <p:nvPr/>
        </p:nvSpPr>
        <p:spPr>
          <a:xfrm>
            <a:off x="5303520" y="2267712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</a:rPr>
              <a:t>Targeted Marketing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303520" y="265176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</a:rPr>
              <a:t>Focus budget on high-revenue age groups and express-shipping customers.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4572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Summary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417320"/>
            <a:ext cx="256032" cy="256032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32588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Analyzed 3,900 customer transactions across 18 features using Python, SQL &amp; Power BI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2057400"/>
            <a:ext cx="256032" cy="256032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96596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Cleaned and engineered features including age groups and purchase frequency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2697480"/>
            <a:ext cx="256032" cy="256032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60604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SQL queries revealed male customers contribute ~2× more revenue than female customers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65760" y="3337560"/>
            <a:ext cx="256032" cy="256032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324612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Dashboard surfaced key KPIs: 3.9K customers, $59.76 avg spend, 3.75 avg rating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3977640"/>
            <a:ext cx="256032" cy="256032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388620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5 actionable recommendations provided for subscription growth, loyalty, and targeting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65760" y="46634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99BB"/>
                </a:solidFill>
              </a:rPr>
              <a:t>Built with Python · PostgreSQL · Power BI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Customer Shopping Behavior Analysis</dc:title>
  <dc:subject>PptxGenJS Presentation</dc:subject>
  <dc:creator>PptxGenJS</dc:creator>
  <cp:lastModifiedBy>PptxGenJS</cp:lastModifiedBy>
  <cp:revision>1</cp:revision>
  <dcterms:created xsi:type="dcterms:W3CDTF">2026-05-02T09:15:18Z</dcterms:created>
  <dcterms:modified xsi:type="dcterms:W3CDTF">2026-05-02T09:15:18Z</dcterms:modified>
</cp:coreProperties>
</file>